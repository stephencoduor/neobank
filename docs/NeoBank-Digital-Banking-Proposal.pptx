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63500" cy="68580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0" y="457200"/>
            <a:ext cx="1371600" cy="13716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914400" cy="914400"/>
          </a:xfrm>
          <a:prstGeom prst="ellipse">
            <a:avLst/>
          </a:prstGeom>
          <a:solidFill>
            <a:srgbClr val="3B8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B949"/>
                </a:solidFill>
                <a:latin typeface="Calibri"/>
              </a:defRPr>
            </a:pPr>
            <a:r>
              <a:t>Qsoftwares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Next-Gen</a:t>
            </a:r>
            <a:br/>
            <a:r>
              <a:t>Digital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8F3DC"/>
                </a:solidFill>
                <a:latin typeface="Calibri"/>
              </a:defRPr>
            </a:pPr>
            <a:r>
              <a:t>&amp; Payments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F3DC"/>
                </a:solidFill>
                <a:latin typeface="Calibri"/>
              </a:defRPr>
            </a:pPr>
            <a:r>
              <a:t>Technical Proposal  |  Gap Analysis  | 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B949"/>
                </a:solidFill>
                <a:latin typeface="Calibri"/>
              </a:defRPr>
            </a:pPr>
            <a:r>
              <a:t>April 2026  |  20-Week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4332"/>
                </a:solidFill>
                <a:latin typeface="Calibri"/>
              </a:defRPr>
            </a:pPr>
            <a:r>
              <a:t>Platform Readiness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03120"/>
            <a:ext cx="2286000" cy="12801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Backend Ready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103120"/>
            <a:ext cx="2286000" cy="12801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Payment Providers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657600"/>
            <a:ext cx="2286000" cy="12801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794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Weeks to Launch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3657600"/>
            <a:ext cx="2286000" cy="12801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794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  <a:latin typeface="Calibri"/>
              </a:defRPr>
            </a:pPr>
            <a:r>
              <a:t>$60K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Fixed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Mobile-First Financial Operating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for Emerging Markets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F3DC"/>
                </a:solidFill>
                <a:latin typeface="Calibri"/>
              </a:defRPr>
            </a:pPr>
            <a:r>
              <a:t>Why We're the Right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Qsoftwares Ltd  |  info@qsoftwares.org  |  +254 710 401 008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  <a:latin typeface="Calibri"/>
              </a:defRPr>
            </a:pPr>
            <a:r>
              <a:t>We propose building a comprehensive digital banking ecosystem leveraging our existing Apache Fineract core banking, 9 payment providers, and proven mobile patterns. ~60% of backend infrastructure is already built.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 Flutter cross-platform app (iOS + Android) with bank-grade security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 Card issuing via BaaS partner (Marqeta/Stripe) — virtual + physical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 Automated KYC/AML via Smile ID (20+ African countries)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 POS &amp; SoftPOS for merchant payment acceptance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 P2P payments via phone, alias, and QR codes</a:t>
            </a:r>
          </a:p>
          <a:p>
            <a:pPr>
              <a:spcAft>
                <a:spcPts val="600"/>
              </a:spcAft>
              <a:defRPr sz="1400">
                <a:solidFill>
                  <a:srgbClr val="374151"/>
                </a:solidFill>
                <a:latin typeface="Calibri"/>
              </a:defRPr>
            </a:pPr>
            <a:r>
              <a:t>•  SOC2/PCI-DSS compliance through architecture + BaaS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  <a:latin typeface="Calibri"/>
              </a:defRPr>
            </a:pPr>
            <a:r>
              <a:t>Key Decision: Flutter + Riverpod + Drift for offline-first, cross-platform mobile.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F3DC"/>
                </a:solidFill>
                <a:latin typeface="Calibri"/>
              </a:defRPr>
            </a:pPr>
            <a:r>
              <a:t>What We Already Have (Saves 3–4 Months)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Qsoftwares Ltd  |  info@qsoftwares.org  |  +254 710 401 008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560320" cy="201168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Calibri"/>
              </a:defRPr>
            </a:pPr>
            <a:r>
              <a:t>Core 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Apache Fineract</a:t>
            </a:r>
            <a:br/>
            <a:r>
              <a:t>Double-entry GL</a:t>
            </a:r>
            <a:br/>
            <a:r>
              <a:t>Loans &amp; Savings</a:t>
            </a:r>
            <a:br/>
            <a:r>
              <a:t>Multi-currency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2560320" cy="201168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  <a:latin typeface="Calibri"/>
              </a:defRPr>
            </a:pPr>
            <a:r>
              <a:t>9 Payment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965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M-Pesa, Airtel, MTN</a:t>
            </a:r>
            <a:br/>
            <a:r>
              <a:t>Flutterwave, Paystack</a:t>
            </a:r>
            <a:br/>
            <a:r>
              <a:t>Cellulant, AT</a:t>
            </a:r>
            <a:br/>
            <a:r>
              <a:t>Razorpay, Stripe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2560320" cy="201168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Calibri"/>
              </a:defRPr>
            </a:pPr>
            <a:r>
              <a:t>React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65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Client CRUD</a:t>
            </a:r>
            <a:br/>
            <a:r>
              <a:t>Loan/Savings Mgmt</a:t>
            </a:r>
            <a:br/>
            <a:r>
              <a:t>Mobile Money Ops</a:t>
            </a:r>
            <a:br/>
            <a:r>
              <a:t>eTIMS Tax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560320" cy="2011680"/>
          </a:xfrm>
          <a:prstGeom prst="rect">
            <a:avLst/>
          </a:prstGeom>
          <a:solidFill>
            <a:srgbClr val="FA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  <a:latin typeface="Calibri"/>
              </a:defRPr>
            </a:pPr>
            <a:r>
              <a:t>Mobile UX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965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50+ Proven Screens</a:t>
            </a:r>
            <a:br/>
            <a:r>
              <a:t>Auth, Payments, QR</a:t>
            </a:r>
            <a:br/>
            <a:r>
              <a:t>Biometric Auth</a:t>
            </a:r>
            <a:br/>
            <a:r>
              <a:t>Loan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Additional: Credit Scoring (PataScore), Multi-Tenant Architecture, eTIMS Tax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  <a:latin typeface="Calibri"/>
              </a:defRPr>
            </a:pPr>
            <a:r>
              <a:t>Architecture: Flutter App  →  API Gateway  →  Fineract Backend  →  BaaS + Card Issuer + KYC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F3DC"/>
                </a:solidFill>
                <a:latin typeface="Calibri"/>
              </a:defRPr>
            </a:pPr>
            <a:r>
              <a:t>Requirements vs. Current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Qsoftwares Ltd  |  info@qsoftwares.org  |  +254 710 401 008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914400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4114800"/>
                <a:gridCol w="1371600"/>
              </a:tblGrid>
              <a:tr h="274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27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Tiered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Fineract supports client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</a:tr>
              <a:tr h="27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KYC/AML Automation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Document storage only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27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Shadow Ledger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GL exists; pending layer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27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Cards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Virtual + Physical Cards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No card infrastructure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27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Freeze/Limits/NFC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</a:tr>
              <a:tr h="27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Merchant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POS Terminals + SoftPOS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No POS infrastructure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27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P2P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Phone/Alias/QR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Basic QR + transfers exist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27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SOC2/PCI-DSS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No compliance framework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27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OAuth2 + 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Basic auth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Critical Gap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F3DC"/>
                </a:solidFill>
                <a:latin typeface="Calibri"/>
              </a:defRPr>
            </a:pPr>
            <a:r>
              <a:t>How We Bridge the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Qsoftwares Ltd  |  info@qsoftwares.org  |  +254 710 401 008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651760" cy="4114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Calibri"/>
              </a:defRPr>
            </a:pPr>
            <a:r>
              <a:t>Card Issuing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BaaS Partner Integration</a:t>
            </a:r>
            <a:br/>
            <a:br/>
            <a:r>
              <a:t>Marqeta / Stripe Issuing</a:t>
            </a:r>
            <a:br/>
            <a:r>
              <a:t>Virtual + Physical cards</a:t>
            </a:r>
            <a:br/>
            <a:r>
              <a:t>Tokenization (no raw card data)</a:t>
            </a:r>
            <a:br/>
            <a:r>
              <a:t>NFC + Chip &amp; PIN via network</a:t>
            </a:r>
            <a:br/>
            <a:br/>
            <a:r>
              <a:t>Effort: 4–5 weeks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2651760" cy="4114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Calibri"/>
              </a:defRPr>
            </a:pPr>
            <a:r>
              <a:t>KYC/AML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96596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Identity Verification</a:t>
            </a:r>
            <a:br/>
            <a:br/>
            <a:r>
              <a:t>Smile ID (Africa) / Onfido</a:t>
            </a:r>
            <a:br/>
            <a:r>
              <a:t>ID capture + liveness check</a:t>
            </a:r>
            <a:br/>
            <a:r>
              <a:t>OCR + AML screening</a:t>
            </a:r>
            <a:br/>
            <a:r>
              <a:t>Auto-approve or manual queue</a:t>
            </a:r>
            <a:br/>
            <a:br/>
            <a:r>
              <a:t>Effort: 2–3 weeks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463040"/>
            <a:ext cx="2651760" cy="4114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Calibri"/>
              </a:defRPr>
            </a:pPr>
            <a:r>
              <a:t>PCI/SOC2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196596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Compliance Framework</a:t>
            </a:r>
            <a:br/>
            <a:br/>
            <a:r>
              <a:t>SAQ-A (outsourced card data)</a:t>
            </a:r>
            <a:br/>
            <a:r>
              <a:t>TLS 1.3 enforcement</a:t>
            </a:r>
            <a:br/>
            <a:r>
              <a:t>Encryption at rest (KMS)</a:t>
            </a:r>
            <a:br/>
            <a:r>
              <a:t>Automated vuln scanning</a:t>
            </a:r>
            <a:br/>
            <a:br/>
            <a:r>
              <a:t>Effort: 3–4 weeks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19" y="1463040"/>
            <a:ext cx="2651760" cy="4114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599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Calibri"/>
              </a:defRPr>
            </a:pPr>
            <a:r>
              <a:t>Merchant/POS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196596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Payment Acceptance</a:t>
            </a:r>
            <a:br/>
            <a:br/>
            <a:r>
              <a:t>PAX/Sunmi hardware POS</a:t>
            </a:r>
            <a:br/>
            <a:r>
              <a:t>Mastercard Tap on Phone</a:t>
            </a:r>
            <a:br/>
            <a:r>
              <a:t>EMVCo QR standard</a:t>
            </a:r>
            <a:br/>
            <a:r>
              <a:t>Instant settlement engine</a:t>
            </a:r>
            <a:br/>
            <a:br/>
            <a:r>
              <a:t>Effort: 4–5 weeks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BaaS &amp; Sponsor Bank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F3DC"/>
                </a:solidFill>
                <a:latin typeface="Calibri"/>
              </a:defRPr>
            </a:pPr>
            <a:r>
              <a:t>Regional Partners for Banking Rails &amp; Card Issuing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Qsoftwares Ltd  |  info@qsoftwares.org  |  +254 710 401 008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017520"/>
                <a:gridCol w="3200400"/>
              </a:tblGrid>
              <a:tr h="391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BaaS Partner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Capabilities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Card Issuing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East Africa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Cellulant, Stanbic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Deposits,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Via Visa/MC partner</a:t>
                      </a:r>
                    </a:p>
                  </a:txBody>
                  <a:tcPr/>
                </a:tc>
              </a:tr>
              <a:tr h="391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West Africa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Flutterwave, Paystack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Deposits, cards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Flutterwave virtual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Southern Africa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Stitch, Investec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Open 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Investec issuing</a:t>
                      </a:r>
                    </a:p>
                  </a:txBody>
                  <a:tcPr/>
                </a:tc>
              </a:tr>
              <a:tr h="391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South Asia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Razorpay X, Setu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Neo-banking, UPI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Partner bank cards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Southeast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Brankas, Rapyd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Wallets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Rapyd issuing</a:t>
                      </a:r>
                    </a:p>
                  </a:txBody>
                  <a:tcPr/>
                </a:tc>
              </a:tr>
              <a:tr h="39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Marqeta, Stripe Treasury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Full stack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Marqeta/Stripe cards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Architecture Layers:</a:t>
            </a:r>
            <a:br/>
            <a:r>
              <a:t>Layer 1: Flutter App + React Dashboard  →  Layer 2: Kong API Gateway  →  Layer 3: Fineract Backend  →  Layer 4: BaaS + Card Issuer + KYC Provider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F3DC"/>
                </a:solidFill>
                <a:latin typeface="Calibri"/>
              </a:defRPr>
            </a:pPr>
            <a:r>
              <a:t>Proven Technologies for Bank-Grade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Qsoftwares Ltd  |  info@qsoftwares.org  |  +254 710 401 008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332"/>
                </a:solidFill>
                <a:latin typeface="Calibri"/>
              </a:defRPr>
            </a:pPr>
            <a:r>
              <a:t>Backend (Extend Existing)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530352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</a:tblGrid>
              <a:tr h="342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Core 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Apache Fineract (Java 21)</a:t>
                      </a:r>
                    </a:p>
                  </a:txBody>
                  <a:tcPr/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Kong / AWS API Gateway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Auth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Keycloak (OAuth2 + JWT)</a:t>
                      </a:r>
                    </a:p>
                  </a:txBody>
                  <a:tcPr/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Cache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Apache Kafka</a:t>
                      </a:r>
                    </a:p>
                  </a:txBody>
                  <a:tcPr/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Grafana + Prometheus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332"/>
                </a:solidFill>
                <a:latin typeface="Calibri"/>
              </a:defRPr>
            </a:pPr>
            <a:r>
              <a:t>Flutter Mobile App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737360"/>
          <a:ext cx="530352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</a:tblGrid>
              <a:tr h="342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Flutter 3.x (Dart)</a:t>
                      </a:r>
                    </a:p>
                  </a:txBody>
                  <a:tcPr/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State Mgmt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Riverpod 2.x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Dio + Retrofit</a:t>
                      </a:r>
                    </a:p>
                  </a:txBody>
                  <a:tcPr/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Local DB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Drift (SQLite)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Biometrics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local_auth</a:t>
                      </a:r>
                    </a:p>
                  </a:txBody>
                  <a:tcPr/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NFC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nfc_manager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QR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qr_flutter + scanner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F3DC"/>
                </a:solidFill>
                <a:latin typeface="Calibri"/>
              </a:defRPr>
            </a:pPr>
            <a:r>
              <a:t>6 Phases Over 20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Qsoftwares Ltd  |  info@qsoftwares.org  |  +254 710 401 008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737360" cy="29260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  <a:br/>
            <a:r>
              <a:t>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8F3DC"/>
                </a:solidFill>
                <a:latin typeface="Calibri"/>
              </a:defRPr>
            </a:pPr>
            <a:r>
              <a:t>Weeks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B949"/>
                </a:solidFill>
                <a:latin typeface="Calibri"/>
              </a:defRPr>
            </a:pPr>
            <a:r>
              <a:t>$12K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645920"/>
            <a:ext cx="1737360" cy="2926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1945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Core Banking</a:t>
            </a:r>
            <a:br/>
            <a:r>
              <a:t>Enhancement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8F3DC"/>
                </a:solidFill>
                <a:latin typeface="Calibri"/>
              </a:defRPr>
            </a:pPr>
            <a:r>
              <a:t>Weeks 5–8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B949"/>
                </a:solidFill>
                <a:latin typeface="Calibri"/>
              </a:defRPr>
            </a:pPr>
            <a:r>
              <a:t>$12K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645920"/>
            <a:ext cx="1737360" cy="29260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1945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Card Issuing</a:t>
            </a:r>
            <a:br/>
            <a:r>
              <a:t>&amp;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8F3DC"/>
                </a:solidFill>
                <a:latin typeface="Calibri"/>
              </a:defRPr>
            </a:pPr>
            <a:r>
              <a:t>Weeks 9–12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B949"/>
                </a:solidFill>
                <a:latin typeface="Calibri"/>
              </a:defRPr>
            </a:pPr>
            <a:r>
              <a:t>$12K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645920"/>
            <a:ext cx="1737360" cy="292608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1945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Flutter</a:t>
            </a:r>
            <a:br/>
            <a:r>
              <a:t>Mobile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8F3DC"/>
                </a:solidFill>
                <a:latin typeface="Calibri"/>
              </a:defRPr>
            </a:pPr>
            <a:r>
              <a:t>Weeks 9–16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B949"/>
                </a:solidFill>
                <a:latin typeface="Calibri"/>
              </a:defRPr>
            </a:pPr>
            <a:r>
              <a:t>$12K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1645920"/>
            <a:ext cx="1737360" cy="2926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1945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Merchant</a:t>
            </a:r>
            <a:br/>
            <a:r>
              <a:t>&amp; POS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8F3DC"/>
                </a:solidFill>
                <a:latin typeface="Calibri"/>
              </a:defRPr>
            </a:pPr>
            <a:r>
              <a:t>Weeks 13–16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B949"/>
                </a:solidFill>
                <a:latin typeface="Calibri"/>
              </a:defRPr>
            </a:pPr>
            <a:r>
              <a:t>$8K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1645920"/>
            <a:ext cx="1737360" cy="29260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21945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QA &amp;</a:t>
            </a:r>
            <a:br/>
            <a:r>
              <a:t>Launch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8F3DC"/>
                </a:solidFill>
                <a:latin typeface="Calibri"/>
              </a:defRPr>
            </a:pPr>
            <a:r>
              <a:t>Weeks 17–20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B949"/>
                </a:solidFill>
                <a:latin typeface="Calibri"/>
              </a:defRPr>
            </a:pPr>
            <a:r>
              <a:t>$4K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A4F"/>
                </a:solidFill>
                <a:latin typeface="Calibri"/>
              </a:defRPr>
            </a:pPr>
            <a:r>
              <a:t>Note: Phases 3 &amp; 4 run in parallel (separate teams). Total calendar time: 20 weeks.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P1: OAuth2, KYC, infra hardening  |  P2: Tiered accounts, shadow ledger, P2P  |  P3: Card API, management UI  |  P4: Full Flutter app (50+ screens)  |  P5: POS, SoftPOS, settlement  |  P6: Pen test, SOC2, beta launch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Budget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F3DC"/>
                </a:solidFill>
                <a:latin typeface="Calibri"/>
              </a:defRPr>
            </a:pPr>
            <a:r>
              <a:t>$60,000 Fixed Price — 20-Week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Qsoftwares Ltd  |  info@qsoftwares.org  |  +254 710 401 008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4846320"/>
                <a:gridCol w="2103120"/>
              </a:tblGrid>
              <a:tr h="342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Deliverables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Phase 1: Foundation &amp;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OAuth2, KYC/AML, infra, BaaS vetting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/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Phase 2: Core Banking Enhancement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4 weeks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Tiered accounts, shadow ledger, P2P, FX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Phase 3: Card Issuing &amp;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Card API, management UI,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/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Phase 4: Flutter Mobile App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8 weeks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Cross-platform app, 50+ screens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Phase 5: Merchant &amp; 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POS, SoftPOS, settlement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$8,000</a:t>
                      </a:r>
                    </a:p>
                  </a:txBody>
                  <a:tcPr/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Phase 6: QA, Compliance &amp; Launch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4 weeks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Testing, pen test, SOC2, beta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$4,000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20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Complete Digital Banking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$60,000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Third-party costs (client responsibility): KYC ($200–500/mo), Card Issuing (per-txn), Cloud ($500–2K/mo), POS hardware ($100–300/unit), SMS ($50–200/mo), Sponsor Bank (negotiated)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Qsoftwares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F3DC"/>
                </a:solidFill>
                <a:latin typeface="Calibri"/>
              </a:defRPr>
            </a:pPr>
            <a:r>
              <a:t>Matching Your Brief — Section 4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Qsoftwares Ltd  |  info@qsoftwares.org  |  +254 710 401 008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391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Your Requirement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Evidence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BaaS Strategy &amp;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Experience with 9 payment providers across Africa + Asia</a:t>
                      </a:r>
                    </a:p>
                  </a:txBody>
                  <a:tcPr/>
                </a:tc>
              </a:tr>
              <a:tr h="391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Financial Backend Engineering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Apache Fineract ledger + 9 payment webhooks + GL posting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Secure Mobile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Biometric auth, payment flows, KYC document capture</a:t>
                      </a:r>
                    </a:p>
                  </a:txBody>
                  <a:tcPr/>
                </a:tc>
              </a:tr>
              <a:tr h="391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Infrastructure Hardening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Cloud deployment, multi-tenant, API security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Fintech Project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Multi-app ecosystem (web + 2 mobile) with shared backend</a:t>
                      </a:r>
                    </a:p>
                  </a:txBody>
                  <a:tcPr/>
                </a:tc>
              </a:tr>
              <a:tr h="391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Financial QA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Ledger reconciliation, transaction testing, compliance documentation</a:t>
                      </a:r>
                    </a:p>
                  </a:txBody>
                  <a:tcPr>
                    <a:solidFill>
                      <a:srgbClr val="FAFA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Edge Case Matrix maintained for all transaction failure states: card auth timeout, double STK push, offline P2P, POS battery failure, FX rate changes, sponsor bank downtime, card fraud.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0800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Ready to Build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B949"/>
                </a:solidFill>
                <a:latin typeface="Calibri"/>
              </a:defRPr>
            </a:pPr>
            <a:r>
              <a:t>Future of Payments?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8F3DC"/>
                </a:solidFill>
                <a:latin typeface="Calibri"/>
              </a:defRPr>
            </a:pPr>
            <a:r>
              <a:t>1.  NDA Signing — Before disclosing brand name and full specifications</a:t>
            </a:r>
          </a:p>
          <a:p>
            <a:pPr>
              <a:spcAft>
                <a:spcPts val="600"/>
              </a:spcAft>
              <a:defRPr sz="1500">
                <a:solidFill>
                  <a:srgbClr val="D8F3DC"/>
                </a:solidFill>
                <a:latin typeface="Calibri"/>
              </a:defRPr>
            </a:pPr>
            <a:r>
              <a:t>2.  BaaS Discovery Call — 1-week sprint to evaluate 3–5 BaaS partners</a:t>
            </a:r>
          </a:p>
          <a:p>
            <a:pPr>
              <a:spcAft>
                <a:spcPts val="600"/>
              </a:spcAft>
              <a:defRPr sz="1500">
                <a:solidFill>
                  <a:srgbClr val="D8F3DC"/>
                </a:solidFill>
                <a:latin typeface="Calibri"/>
              </a:defRPr>
            </a:pPr>
            <a:r>
              <a:t>3.  Technical Deep-Dive — 2-hour session with your CTO</a:t>
            </a:r>
          </a:p>
          <a:p>
            <a:pPr>
              <a:spcAft>
                <a:spcPts val="600"/>
              </a:spcAft>
              <a:defRPr sz="1500">
                <a:solidFill>
                  <a:srgbClr val="D8F3DC"/>
                </a:solidFill>
                <a:latin typeface="Calibri"/>
              </a:defRPr>
            </a:pPr>
            <a:r>
              <a:t>4.  Contract &amp; Kickoff — Phase 1 begins immediately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6A4F"/>
                </a:solidFill>
                <a:latin typeface="Calibri"/>
              </a:defRPr>
            </a:pPr>
            <a:r>
              <a:t>Qsoftwares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74151"/>
                </a:solidFill>
                <a:latin typeface="Calibri"/>
              </a:defRPr>
            </a:pPr>
            <a:r>
              <a:t>info@qsoftwares.org  |  +254 710 401 008  |  www.qsoftwares.org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B949"/>
                </a:solidFill>
                <a:latin typeface="Calibri"/>
              </a:defRPr>
            </a:pPr>
            <a:r>
              <a:t>$60,000 Fixed Price  |  20-Week Delivery  |  Flutter + Fineract + BaaS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